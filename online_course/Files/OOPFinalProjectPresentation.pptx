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Proxima Nova Bold" charset="1" panose="02000506030000020004"/>
      <p:regular r:id="rId23"/>
    </p:embeddedFont>
    <p:embeddedFont>
      <p:font typeface="Proxima Nova" charset="1" panose="020005060300000200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81075"/>
            <a:ext cx="1572441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b="true" sz="2000" spc="100">
                <a:solidFill>
                  <a:srgbClr val="FF009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YEAR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293030"/>
            <a:ext cx="1572441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2026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01141" y="981075"/>
            <a:ext cx="2754724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b="true" sz="2000" spc="100">
                <a:solidFill>
                  <a:srgbClr val="FF009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PRESENTERS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01141" y="1293030"/>
            <a:ext cx="2754724" cy="105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Mukhammed Teymurlu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Aydin Nagiyev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Toghrul Mammadli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8578681"/>
            <a:ext cx="8115300" cy="679619"/>
            <a:chOff x="0" y="0"/>
            <a:chExt cx="10820400" cy="90615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10820400" cy="449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00"/>
                </a:lnSpc>
              </a:pPr>
              <a:r>
                <a:rPr lang="en-US" b="true" sz="2000" spc="100">
                  <a:solidFill>
                    <a:srgbClr val="FF009D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PROJECT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456368"/>
              <a:ext cx="10820400" cy="449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www.learnify.com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91581" y="5627365"/>
            <a:ext cx="7412410" cy="4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FF009D"/>
                </a:solidFill>
                <a:latin typeface="Proxima Nova"/>
                <a:ea typeface="Proxima Nova"/>
                <a:cs typeface="Proxima Nova"/>
                <a:sym typeface="Proxima Nova"/>
              </a:rPr>
              <a:t>Online Course Platform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17952" y="4547240"/>
            <a:ext cx="7412410" cy="1322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629"/>
              </a:lnSpc>
            </a:pPr>
            <a:r>
              <a:rPr lang="en-US" b="true" sz="10699" spc="-534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Learnify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017491" y="1028700"/>
            <a:ext cx="10241809" cy="8229600"/>
          </a:xfrm>
          <a:custGeom>
            <a:avLst/>
            <a:gdLst/>
            <a:ahLst/>
            <a:cxnLst/>
            <a:rect r="r" b="b" t="t" l="l"/>
            <a:pathLst>
              <a:path h="8229600" w="10241809">
                <a:moveTo>
                  <a:pt x="0" y="0"/>
                </a:moveTo>
                <a:lnTo>
                  <a:pt x="10241809" y="0"/>
                </a:lnTo>
                <a:lnTo>
                  <a:pt x="102418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904" t="0" r="-935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7664151" y="1258338"/>
            <a:ext cx="8972687" cy="5041292"/>
            <a:chOff x="0" y="0"/>
            <a:chExt cx="11963583" cy="6721722"/>
          </a:xfrm>
        </p:grpSpPr>
        <p:pic>
          <p:nvPicPr>
            <p:cNvPr name="Picture 13" id="13"/>
            <p:cNvPicPr>
              <a:picLocks noChangeAspect="true"/>
            </p:cNvPicPr>
            <p:nvPr/>
          </p:nvPicPr>
          <p:blipFill>
            <a:blip r:embed="rId3"/>
            <a:srcRect l="0" t="57" r="0" b="57"/>
            <a:stretch>
              <a:fillRect/>
            </a:stretch>
          </p:blipFill>
          <p:spPr>
            <a:xfrm flipH="false" flipV="false">
              <a:off x="0" y="0"/>
              <a:ext cx="11963583" cy="672172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2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6186311" cy="3479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3479800"/>
            </a:xfrm>
            <a:custGeom>
              <a:avLst/>
              <a:gdLst/>
              <a:ahLst/>
              <a:cxnLst/>
              <a:rect r="r" b="b" t="t" l="l"/>
              <a:pathLst>
                <a:path h="3479800" w="6186311">
                  <a:moveTo>
                    <a:pt x="0" y="0"/>
                  </a:moveTo>
                  <a:lnTo>
                    <a:pt x="0" y="3479800"/>
                  </a:lnTo>
                  <a:lnTo>
                    <a:pt x="6186311" y="3479800"/>
                  </a:lnTo>
                  <a:lnTo>
                    <a:pt x="6186311" y="0"/>
                  </a:lnTo>
                  <a:lnTo>
                    <a:pt x="0" y="0"/>
                  </a:lnTo>
                  <a:close/>
                  <a:moveTo>
                    <a:pt x="6125351" y="3418840"/>
                  </a:moveTo>
                  <a:lnTo>
                    <a:pt x="59690" y="3418840"/>
                  </a:lnTo>
                  <a:lnTo>
                    <a:pt x="59690" y="59690"/>
                  </a:lnTo>
                  <a:lnTo>
                    <a:pt x="6125351" y="59690"/>
                  </a:lnTo>
                  <a:lnTo>
                    <a:pt x="6125351" y="3418840"/>
                  </a:lnTo>
                  <a:close/>
                </a:path>
              </a:pathLst>
            </a:custGeom>
            <a:solidFill>
              <a:srgbClr val="FDFDFD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875034" y="9223410"/>
            <a:ext cx="1384266" cy="28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85" u="none">
                <a:solidFill>
                  <a:srgbClr val="FF009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NEXT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78575" y="838200"/>
            <a:ext cx="1992689" cy="170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999"/>
              </a:lnSpc>
            </a:pPr>
            <a:r>
              <a:rPr lang="en-US" sz="9999" spc="499">
                <a:solidFill>
                  <a:srgbClr val="FF009D"/>
                </a:solidFill>
                <a:latin typeface="Proxima Nova"/>
                <a:ea typeface="Proxima Nova"/>
                <a:cs typeface="Proxima Nova"/>
                <a:sym typeface="Proxima Nova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581838" y="2498725"/>
            <a:ext cx="2904146" cy="389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-46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Account Creation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78575" y="2986058"/>
            <a:ext cx="2904146" cy="435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9"/>
              </a:lnSpc>
            </a:pPr>
            <a:r>
              <a:rPr lang="en-US" sz="2299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Sign up / Log in pages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76298" y="838200"/>
            <a:ext cx="1992689" cy="170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999"/>
              </a:lnSpc>
            </a:pPr>
            <a:r>
              <a:rPr lang="en-US" sz="9999" spc="499">
                <a:solidFill>
                  <a:srgbClr val="FF009D"/>
                </a:solidFill>
                <a:latin typeface="Proxima Nova"/>
                <a:ea typeface="Proxima Nova"/>
                <a:cs typeface="Proxima Nova"/>
                <a:sym typeface="Proxima Nova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76298" y="2498725"/>
            <a:ext cx="2904146" cy="389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-46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Teacher Dashboard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76298" y="2962563"/>
            <a:ext cx="3132242" cy="902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9"/>
              </a:lnSpc>
            </a:pPr>
            <a:r>
              <a:rPr lang="en-US" sz="2299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Creating courses/quizes</a:t>
            </a:r>
          </a:p>
          <a:p>
            <a:pPr algn="l">
              <a:lnSpc>
                <a:spcPts val="3679"/>
              </a:lnSpc>
            </a:pPr>
            <a:r>
              <a:rPr lang="en-US" sz="2299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Giving feedbacks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78575" y="4953000"/>
            <a:ext cx="1992689" cy="170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999"/>
              </a:lnSpc>
            </a:pPr>
            <a:r>
              <a:rPr lang="en-US" sz="9999" spc="499">
                <a:solidFill>
                  <a:srgbClr val="FF009D"/>
                </a:solidFill>
                <a:latin typeface="Proxima Nova"/>
                <a:ea typeface="Proxima Nova"/>
                <a:cs typeface="Proxima Nova"/>
                <a:sym typeface="Proxima Nova"/>
              </a:rPr>
              <a:t>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81838" y="6794500"/>
            <a:ext cx="2904146" cy="389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-46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Student dashboard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81838" y="7279004"/>
            <a:ext cx="2904146" cy="1369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9"/>
              </a:lnSpc>
            </a:pPr>
            <a:r>
              <a:rPr lang="en-US" sz="2299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Enrolling courses</a:t>
            </a:r>
          </a:p>
          <a:p>
            <a:pPr algn="l">
              <a:lnSpc>
                <a:spcPts val="3679"/>
              </a:lnSpc>
            </a:pPr>
            <a:r>
              <a:rPr lang="en-US" sz="2299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Taking quizes</a:t>
            </a:r>
          </a:p>
          <a:p>
            <a:pPr algn="l">
              <a:lnSpc>
                <a:spcPts val="3679"/>
              </a:lnSpc>
            </a:pPr>
            <a:r>
              <a:rPr lang="en-US" sz="2299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Tracking progress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75983" y="4243739"/>
            <a:ext cx="4712543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spc="-400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Agenda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75983" y="3827855"/>
            <a:ext cx="4712543" cy="28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b="true" sz="1700" spc="85">
                <a:solidFill>
                  <a:srgbClr val="FF009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WELCOME!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76298" y="4953000"/>
            <a:ext cx="1992689" cy="170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999"/>
              </a:lnSpc>
            </a:pPr>
            <a:r>
              <a:rPr lang="en-US" sz="9999" spc="499">
                <a:solidFill>
                  <a:srgbClr val="FF009D"/>
                </a:solidFill>
                <a:latin typeface="Proxima Nova"/>
                <a:ea typeface="Proxima Nova"/>
                <a:cs typeface="Proxima Nova"/>
                <a:sym typeface="Proxima Nova"/>
              </a:rPr>
              <a:t>04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76298" y="6613525"/>
            <a:ext cx="2904146" cy="389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-46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Data managament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76298" y="7098029"/>
            <a:ext cx="3821192" cy="183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9"/>
              </a:lnSpc>
            </a:pPr>
            <a:r>
              <a:rPr lang="en-US" sz="2299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Relational database structure</a:t>
            </a:r>
          </a:p>
          <a:p>
            <a:pPr algn="l">
              <a:lnSpc>
                <a:spcPts val="3679"/>
              </a:lnSpc>
            </a:pPr>
            <a:r>
              <a:rPr lang="en-US" sz="2299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Automated scoring logic</a:t>
            </a:r>
          </a:p>
          <a:p>
            <a:pPr algn="l">
              <a:lnSpc>
                <a:spcPts val="3679"/>
              </a:lnSpc>
            </a:pPr>
            <a:r>
              <a:rPr lang="en-US" sz="2299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Real-time data synchronization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1160" y="854185"/>
            <a:ext cx="11406488" cy="8578629"/>
            <a:chOff x="0" y="0"/>
            <a:chExt cx="15208650" cy="114381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08650" cy="11438172"/>
            </a:xfrm>
            <a:custGeom>
              <a:avLst/>
              <a:gdLst/>
              <a:ahLst/>
              <a:cxnLst/>
              <a:rect r="r" b="b" t="t" l="l"/>
              <a:pathLst>
                <a:path h="11438172" w="15208650">
                  <a:moveTo>
                    <a:pt x="0" y="0"/>
                  </a:moveTo>
                  <a:lnTo>
                    <a:pt x="15208650" y="0"/>
                  </a:lnTo>
                  <a:lnTo>
                    <a:pt x="15208650" y="11438172"/>
                  </a:lnTo>
                  <a:lnTo>
                    <a:pt x="0" y="11438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1728981" y="322959"/>
              <a:ext cx="12494200" cy="7019849"/>
              <a:chOff x="0" y="0"/>
              <a:chExt cx="12494200" cy="7019849"/>
            </a:xfrm>
          </p:grpSpPr>
          <p:pic>
            <p:nvPicPr>
              <p:cNvPr name="Picture 5" id="5"/>
              <p:cNvPicPr>
                <a:picLocks noChangeAspect="true"/>
              </p:cNvPicPr>
              <p:nvPr/>
            </p:nvPicPr>
            <p:blipFill>
              <a:blip r:embed="rId3"/>
              <a:srcRect l="11669" t="8563" r="11986" b="9146"/>
              <a:stretch>
                <a:fillRect/>
              </a:stretch>
            </p:blipFill>
            <p:spPr>
              <a:xfrm flipH="false" flipV="false">
                <a:off x="0" y="0"/>
                <a:ext cx="12494200" cy="7019849"/>
              </a:xfrm>
              <a:prstGeom prst="rect">
                <a:avLst/>
              </a:prstGeom>
            </p:spPr>
          </p:pic>
        </p:grpSp>
      </p:grpSp>
      <p:sp>
        <p:nvSpPr>
          <p:cNvPr name="TextBox 6" id="6"/>
          <p:cNvSpPr txBox="true"/>
          <p:nvPr/>
        </p:nvSpPr>
        <p:spPr>
          <a:xfrm rot="0">
            <a:off x="11305062" y="4000500"/>
            <a:ext cx="5954238" cy="2747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20"/>
              </a:lnSpc>
            </a:pPr>
            <a:r>
              <a:rPr lang="en-US" b="true" sz="12000" spc="-600">
                <a:solidFill>
                  <a:srgbClr val="00803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Creating</a:t>
            </a:r>
          </a:p>
          <a:p>
            <a:pPr algn="l">
              <a:lnSpc>
                <a:spcPts val="10320"/>
              </a:lnSpc>
            </a:pPr>
            <a:r>
              <a:rPr lang="en-US" b="true" sz="12000" spc="-600">
                <a:solidFill>
                  <a:srgbClr val="00803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Account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305062" y="3345816"/>
            <a:ext cx="5883375" cy="27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b="true" sz="1600" spc="80">
                <a:solidFill>
                  <a:srgbClr val="00803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ARE YOU A TEACHER OR A STUDENT?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0143"/>
            <a:ext cx="18288000" cy="10287000"/>
            <a:chOff x="0" y="0"/>
            <a:chExt cx="6186311" cy="3479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3479800"/>
            </a:xfrm>
            <a:custGeom>
              <a:avLst/>
              <a:gdLst/>
              <a:ahLst/>
              <a:cxnLst/>
              <a:rect r="r" b="b" t="t" l="l"/>
              <a:pathLst>
                <a:path h="3479800" w="6186311">
                  <a:moveTo>
                    <a:pt x="0" y="0"/>
                  </a:moveTo>
                  <a:lnTo>
                    <a:pt x="0" y="3479800"/>
                  </a:lnTo>
                  <a:lnTo>
                    <a:pt x="6186311" y="3479800"/>
                  </a:lnTo>
                  <a:lnTo>
                    <a:pt x="6186311" y="0"/>
                  </a:lnTo>
                  <a:lnTo>
                    <a:pt x="0" y="0"/>
                  </a:lnTo>
                  <a:close/>
                  <a:moveTo>
                    <a:pt x="6125351" y="3418840"/>
                  </a:moveTo>
                  <a:lnTo>
                    <a:pt x="59690" y="3418840"/>
                  </a:lnTo>
                  <a:lnTo>
                    <a:pt x="59690" y="59690"/>
                  </a:lnTo>
                  <a:lnTo>
                    <a:pt x="6125351" y="59690"/>
                  </a:lnTo>
                  <a:lnTo>
                    <a:pt x="6125351" y="3418840"/>
                  </a:lnTo>
                  <a:close/>
                </a:path>
              </a:pathLst>
            </a:custGeom>
            <a:solidFill>
              <a:srgbClr val="FDFDF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4641548" y="768179"/>
            <a:ext cx="18478017" cy="13897009"/>
            <a:chOff x="0" y="0"/>
            <a:chExt cx="24637356" cy="185293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637356" cy="18529345"/>
            </a:xfrm>
            <a:custGeom>
              <a:avLst/>
              <a:gdLst/>
              <a:ahLst/>
              <a:cxnLst/>
              <a:rect r="r" b="b" t="t" l="l"/>
              <a:pathLst>
                <a:path h="18529345" w="24637356">
                  <a:moveTo>
                    <a:pt x="0" y="0"/>
                  </a:moveTo>
                  <a:lnTo>
                    <a:pt x="24637356" y="0"/>
                  </a:lnTo>
                  <a:lnTo>
                    <a:pt x="24637356" y="18529345"/>
                  </a:lnTo>
                  <a:lnTo>
                    <a:pt x="0" y="185293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6" id="6"/>
            <p:cNvGrpSpPr/>
            <p:nvPr/>
          </p:nvGrpSpPr>
          <p:grpSpPr>
            <a:xfrm rot="0">
              <a:off x="2800875" y="523179"/>
              <a:ext cx="20240065" cy="11371852"/>
              <a:chOff x="0" y="0"/>
              <a:chExt cx="17977027" cy="10100367"/>
            </a:xfrm>
          </p:grpSpPr>
          <p:pic>
            <p:nvPicPr>
              <p:cNvPr name="Picture 7" id="7"/>
              <p:cNvPicPr>
                <a:picLocks noChangeAspect="true"/>
              </p:cNvPicPr>
              <p:nvPr/>
            </p:nvPicPr>
            <p:blipFill>
              <a:blip r:embed="rId3"/>
              <a:srcRect l="11669" t="8563" r="11986" b="9146"/>
              <a:stretch>
                <a:fillRect/>
              </a:stretch>
            </p:blipFill>
            <p:spPr>
              <a:xfrm flipH="false" flipV="false">
                <a:off x="0" y="0"/>
                <a:ext cx="17977027" cy="10100367"/>
              </a:xfrm>
              <a:prstGeom prst="rect">
                <a:avLst/>
              </a:prstGeom>
            </p:spPr>
          </p:pic>
        </p:grpSp>
      </p:grpSp>
      <p:sp>
        <p:nvSpPr>
          <p:cNvPr name="TextBox 8" id="8"/>
          <p:cNvSpPr txBox="true"/>
          <p:nvPr/>
        </p:nvSpPr>
        <p:spPr>
          <a:xfrm rot="0">
            <a:off x="15875034" y="9223410"/>
            <a:ext cx="1384266" cy="28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85" u="none">
                <a:solidFill>
                  <a:srgbClr val="00803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NEXT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413638" y="2057400"/>
            <a:ext cx="6845662" cy="6814237"/>
            <a:chOff x="0" y="0"/>
            <a:chExt cx="9127549" cy="9085649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9127549" cy="9085649"/>
              <a:chOff x="0" y="0"/>
              <a:chExt cx="1802973" cy="179469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802973" cy="1794696"/>
              </a:xfrm>
              <a:custGeom>
                <a:avLst/>
                <a:gdLst/>
                <a:ahLst/>
                <a:cxnLst/>
                <a:rect r="r" b="b" t="t" l="l"/>
                <a:pathLst>
                  <a:path h="1794696" w="1802973">
                    <a:moveTo>
                      <a:pt x="57677" y="0"/>
                    </a:moveTo>
                    <a:lnTo>
                      <a:pt x="1745296" y="0"/>
                    </a:lnTo>
                    <a:cubicBezTo>
                      <a:pt x="1760593" y="0"/>
                      <a:pt x="1775263" y="6077"/>
                      <a:pt x="1786080" y="16893"/>
                    </a:cubicBezTo>
                    <a:cubicBezTo>
                      <a:pt x="1796896" y="27710"/>
                      <a:pt x="1802973" y="42380"/>
                      <a:pt x="1802973" y="57677"/>
                    </a:cubicBezTo>
                    <a:lnTo>
                      <a:pt x="1802973" y="1737019"/>
                    </a:lnTo>
                    <a:cubicBezTo>
                      <a:pt x="1802973" y="1752316"/>
                      <a:pt x="1796896" y="1766986"/>
                      <a:pt x="1786080" y="1777803"/>
                    </a:cubicBezTo>
                    <a:cubicBezTo>
                      <a:pt x="1775263" y="1788619"/>
                      <a:pt x="1760593" y="1794696"/>
                      <a:pt x="1745296" y="1794696"/>
                    </a:cubicBezTo>
                    <a:lnTo>
                      <a:pt x="57677" y="1794696"/>
                    </a:lnTo>
                    <a:cubicBezTo>
                      <a:pt x="42380" y="1794696"/>
                      <a:pt x="27710" y="1788619"/>
                      <a:pt x="16893" y="1777803"/>
                    </a:cubicBezTo>
                    <a:cubicBezTo>
                      <a:pt x="6077" y="1766986"/>
                      <a:pt x="0" y="1752316"/>
                      <a:pt x="0" y="1737019"/>
                    </a:cubicBezTo>
                    <a:lnTo>
                      <a:pt x="0" y="57677"/>
                    </a:lnTo>
                    <a:cubicBezTo>
                      <a:pt x="0" y="42380"/>
                      <a:pt x="6077" y="27710"/>
                      <a:pt x="16893" y="16893"/>
                    </a:cubicBezTo>
                    <a:cubicBezTo>
                      <a:pt x="27710" y="6077"/>
                      <a:pt x="42380" y="0"/>
                      <a:pt x="57677" y="0"/>
                    </a:cubicBezTo>
                    <a:close/>
                  </a:path>
                </a:pathLst>
              </a:custGeom>
              <a:solidFill>
                <a:srgbClr val="D5E6E0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1802973" cy="18232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8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19103" y="2166022"/>
              <a:ext cx="8808446" cy="5060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en-US" sz="3000" spc="-75" b="true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Teacher</a:t>
              </a:r>
            </a:p>
            <a:p>
              <a:pPr algn="l" marL="0" indent="0" lvl="0">
                <a:lnSpc>
                  <a:spcPts val="3300"/>
                </a:lnSpc>
                <a:spcBef>
                  <a:spcPct val="0"/>
                </a:spcBef>
              </a:pPr>
              <a:r>
                <a:rPr lang="en-US" sz="3000" spc="-75" strike="noStrike" u="none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Create interactive quizzes, design assessments, and provide detailed performance reviews.</a:t>
              </a:r>
            </a:p>
            <a:p>
              <a:pPr algn="l" marL="0" indent="0" lvl="0">
                <a:lnSpc>
                  <a:spcPts val="3300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300"/>
                </a:lnSpc>
                <a:spcBef>
                  <a:spcPct val="0"/>
                </a:spcBef>
              </a:pPr>
              <a:r>
                <a:rPr lang="en-US" b="true" sz="3000" spc="-75" strike="noStrike" u="none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Student</a:t>
              </a:r>
              <a:r>
                <a:rPr lang="en-US" b="true" sz="3000" spc="-75" strike="noStrike" u="none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 </a:t>
              </a:r>
            </a:p>
            <a:p>
              <a:pPr algn="l" marL="0" indent="0" lvl="0">
                <a:lnSpc>
                  <a:spcPts val="3300"/>
                </a:lnSpc>
                <a:spcBef>
                  <a:spcPct val="0"/>
                </a:spcBef>
              </a:pPr>
              <a:r>
                <a:rPr lang="en-US" sz="3000" spc="-75" strike="noStrike" u="none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Seamless course enrollment, active lesson participation, and real-time progress tracking.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19103" y="457348"/>
              <a:ext cx="8808446" cy="1114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000"/>
                </a:lnSpc>
                <a:spcBef>
                  <a:spcPct val="0"/>
                </a:spcBef>
              </a:pPr>
              <a:r>
                <a:rPr lang="en-US" b="true" sz="6000" spc="-300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Personalized journey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085327" y="3651969"/>
            <a:ext cx="6606335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  <a:spcBef>
                <a:spcPct val="0"/>
              </a:spcBef>
            </a:pPr>
            <a:r>
              <a:rPr lang="en-US" b="true" sz="9000" spc="-45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Sign in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085327" y="4908465"/>
            <a:ext cx="6173973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-6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Access your personalized dashboard to continue your learning or teaching journey. A secure and seamless entry to all your courses and tools.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085327" y="3216360"/>
            <a:ext cx="6606335" cy="27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</a:pPr>
            <a:r>
              <a:rPr lang="en-US" b="true" sz="1600" spc="80">
                <a:solidFill>
                  <a:srgbClr val="00803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DO YOU ALREADY HAVE AN ACCOUNT?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321160" y="854185"/>
            <a:ext cx="11406488" cy="8578629"/>
            <a:chOff x="0" y="0"/>
            <a:chExt cx="15208650" cy="114381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08650" cy="11438172"/>
            </a:xfrm>
            <a:custGeom>
              <a:avLst/>
              <a:gdLst/>
              <a:ahLst/>
              <a:cxnLst/>
              <a:rect r="r" b="b" t="t" l="l"/>
              <a:pathLst>
                <a:path h="11438172" w="15208650">
                  <a:moveTo>
                    <a:pt x="0" y="0"/>
                  </a:moveTo>
                  <a:lnTo>
                    <a:pt x="15208650" y="0"/>
                  </a:lnTo>
                  <a:lnTo>
                    <a:pt x="15208650" y="11438172"/>
                  </a:lnTo>
                  <a:lnTo>
                    <a:pt x="0" y="11438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1728981" y="322959"/>
              <a:ext cx="12494200" cy="7019849"/>
              <a:chOff x="0" y="0"/>
              <a:chExt cx="12494200" cy="7019849"/>
            </a:xfrm>
          </p:grpSpPr>
          <p:pic>
            <p:nvPicPr>
              <p:cNvPr name="Picture 8" id="8"/>
              <p:cNvPicPr>
                <a:picLocks noChangeAspect="true"/>
              </p:cNvPicPr>
              <p:nvPr/>
            </p:nvPicPr>
            <p:blipFill>
              <a:blip r:embed="rId3"/>
              <a:srcRect l="14129" t="11639" r="14396" b="11318"/>
              <a:stretch>
                <a:fillRect/>
              </a:stretch>
            </p:blipFill>
            <p:spPr>
              <a:xfrm flipH="false" flipV="false">
                <a:off x="0" y="0"/>
                <a:ext cx="12494200" cy="7019849"/>
              </a:xfrm>
              <a:prstGeom prst="rect">
                <a:avLst/>
              </a:prstGeom>
            </p:spPr>
          </p:pic>
        </p:grpSp>
      </p:grpSp>
      <p:sp>
        <p:nvSpPr>
          <p:cNvPr name="TextBox 9" id="9"/>
          <p:cNvSpPr txBox="true"/>
          <p:nvPr/>
        </p:nvSpPr>
        <p:spPr>
          <a:xfrm rot="0">
            <a:off x="15875034" y="9223410"/>
            <a:ext cx="1384266" cy="28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85" u="none">
                <a:solidFill>
                  <a:srgbClr val="00803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NEXT</a:t>
            </a:r>
          </a:p>
        </p:txBody>
      </p:sp>
    </p:spTree>
  </p:cSld>
  <p:clrMapOvr>
    <a:masterClrMapping/>
  </p:clrMapOvr>
  <p:transition spd="slow">
    <p:cover dir="d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164753"/>
            <a:ext cx="9431863" cy="7093547"/>
          </a:xfrm>
          <a:custGeom>
            <a:avLst/>
            <a:gdLst/>
            <a:ahLst/>
            <a:cxnLst/>
            <a:rect r="r" b="b" t="t" l="l"/>
            <a:pathLst>
              <a:path h="7093547" w="9431863">
                <a:moveTo>
                  <a:pt x="0" y="0"/>
                </a:moveTo>
                <a:lnTo>
                  <a:pt x="9431863" y="0"/>
                </a:lnTo>
                <a:lnTo>
                  <a:pt x="9431863" y="7093547"/>
                </a:lnTo>
                <a:lnTo>
                  <a:pt x="0" y="70935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100953" y="2365041"/>
            <a:ext cx="7748458" cy="4353460"/>
            <a:chOff x="0" y="0"/>
            <a:chExt cx="10331277" cy="5804613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t="57" r="0" b="57"/>
            <a:stretch>
              <a:fillRect/>
            </a:stretch>
          </p:blipFill>
          <p:spPr>
            <a:xfrm flipH="false" flipV="false">
              <a:off x="0" y="0"/>
              <a:ext cx="10331277" cy="5804613"/>
            </a:xfrm>
            <a:prstGeom prst="rect">
              <a:avLst/>
            </a:prstGeom>
          </p:spPr>
        </p:pic>
      </p:grpSp>
      <p:sp>
        <p:nvSpPr>
          <p:cNvPr name="TextBox 5" id="5"/>
          <p:cNvSpPr txBox="true"/>
          <p:nvPr/>
        </p:nvSpPr>
        <p:spPr>
          <a:xfrm rot="0">
            <a:off x="11128304" y="4324350"/>
            <a:ext cx="5954238" cy="281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9999" spc="-499" b="true">
                <a:solidFill>
                  <a:srgbClr val="75598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Teacher</a:t>
            </a:r>
          </a:p>
          <a:p>
            <a:pPr algn="l">
              <a:lnSpc>
                <a:spcPts val="10999"/>
              </a:lnSpc>
            </a:pPr>
            <a:r>
              <a:rPr lang="en-US" sz="9999" spc="-499" b="true">
                <a:solidFill>
                  <a:srgbClr val="75598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Dashboard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199167" y="4138243"/>
            <a:ext cx="5883375" cy="27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</a:pPr>
            <a:r>
              <a:rPr lang="en-US" b="true" sz="1600" spc="80">
                <a:solidFill>
                  <a:srgbClr val="75598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CREATE QUIZES AND GIVE FEEDBACK TO STUDENTS!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46023" cy="8986352"/>
            <a:chOff x="0" y="0"/>
            <a:chExt cx="21661364" cy="11981803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831" r="0" b="831"/>
            <a:stretch>
              <a:fillRect/>
            </a:stretch>
          </p:blipFill>
          <p:spPr>
            <a:xfrm flipH="false" flipV="false">
              <a:off x="0" y="0"/>
              <a:ext cx="21661364" cy="11981803"/>
            </a:xfrm>
            <a:prstGeom prst="rect">
              <a:avLst/>
            </a:prstGeom>
          </p:spPr>
        </p:pic>
      </p:grpSp>
      <p:sp>
        <p:nvSpPr>
          <p:cNvPr name="AutoShape 4" id="4"/>
          <p:cNvSpPr/>
          <p:nvPr/>
        </p:nvSpPr>
        <p:spPr>
          <a:xfrm flipH="true" flipV="true">
            <a:off x="1970028" y="3003788"/>
            <a:ext cx="44237" cy="4844447"/>
          </a:xfrm>
          <a:prstGeom prst="line">
            <a:avLst/>
          </a:prstGeom>
          <a:ln cap="rnd" w="38100">
            <a:solidFill>
              <a:srgbClr val="FE93D5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5" id="5"/>
          <p:cNvGrpSpPr/>
          <p:nvPr/>
        </p:nvGrpSpPr>
        <p:grpSpPr>
          <a:xfrm rot="0">
            <a:off x="222581" y="7665757"/>
            <a:ext cx="3494895" cy="1592543"/>
            <a:chOff x="0" y="0"/>
            <a:chExt cx="920466" cy="4194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0466" cy="419435"/>
            </a:xfrm>
            <a:custGeom>
              <a:avLst/>
              <a:gdLst/>
              <a:ahLst/>
              <a:cxnLst/>
              <a:rect r="r" b="b" t="t" l="l"/>
              <a:pathLst>
                <a:path h="419435" w="920466">
                  <a:moveTo>
                    <a:pt x="112976" y="0"/>
                  </a:moveTo>
                  <a:lnTo>
                    <a:pt x="807491" y="0"/>
                  </a:lnTo>
                  <a:cubicBezTo>
                    <a:pt x="869885" y="0"/>
                    <a:pt x="920466" y="50581"/>
                    <a:pt x="920466" y="112976"/>
                  </a:cubicBezTo>
                  <a:lnTo>
                    <a:pt x="920466" y="306460"/>
                  </a:lnTo>
                  <a:cubicBezTo>
                    <a:pt x="920466" y="368854"/>
                    <a:pt x="869885" y="419435"/>
                    <a:pt x="807491" y="419435"/>
                  </a:cubicBezTo>
                  <a:lnTo>
                    <a:pt x="112976" y="419435"/>
                  </a:lnTo>
                  <a:cubicBezTo>
                    <a:pt x="50581" y="419435"/>
                    <a:pt x="0" y="368854"/>
                    <a:pt x="0" y="306460"/>
                  </a:cubicBezTo>
                  <a:lnTo>
                    <a:pt x="0" y="112976"/>
                  </a:lnTo>
                  <a:cubicBezTo>
                    <a:pt x="0" y="50581"/>
                    <a:pt x="50581" y="0"/>
                    <a:pt x="112976" y="0"/>
                  </a:cubicBezTo>
                  <a:close/>
                </a:path>
              </a:pathLst>
            </a:custGeom>
            <a:solidFill>
              <a:srgbClr val="C9B8E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20466" cy="457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046727" y="459244"/>
            <a:ext cx="1019454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3000" spc="-15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Built for efficiency, feedback, and growth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6935" y="7840981"/>
            <a:ext cx="258618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 spc="-36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Centralized Management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1015" y="8109586"/>
            <a:ext cx="3018027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Streamlined navigation for effortless course creation and content management.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40833" y="137935"/>
            <a:ext cx="6606335" cy="27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b="true" sz="1600" spc="80">
                <a:solidFill>
                  <a:srgbClr val="75598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ACADEMIC MANAGEMENT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241273" y="1750548"/>
            <a:ext cx="3494895" cy="1592543"/>
            <a:chOff x="0" y="0"/>
            <a:chExt cx="4659861" cy="212339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4659861" cy="2123390"/>
              <a:chOff x="0" y="0"/>
              <a:chExt cx="920466" cy="41943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20466" cy="419435"/>
              </a:xfrm>
              <a:custGeom>
                <a:avLst/>
                <a:gdLst/>
                <a:ahLst/>
                <a:cxnLst/>
                <a:rect r="r" b="b" t="t" l="l"/>
                <a:pathLst>
                  <a:path h="419435" w="920466">
                    <a:moveTo>
                      <a:pt x="112976" y="0"/>
                    </a:moveTo>
                    <a:lnTo>
                      <a:pt x="807491" y="0"/>
                    </a:lnTo>
                    <a:cubicBezTo>
                      <a:pt x="869885" y="0"/>
                      <a:pt x="920466" y="50581"/>
                      <a:pt x="920466" y="112976"/>
                    </a:cubicBezTo>
                    <a:lnTo>
                      <a:pt x="920466" y="306460"/>
                    </a:lnTo>
                    <a:cubicBezTo>
                      <a:pt x="920466" y="368854"/>
                      <a:pt x="869885" y="419435"/>
                      <a:pt x="807491" y="419435"/>
                    </a:cubicBezTo>
                    <a:lnTo>
                      <a:pt x="112976" y="419435"/>
                    </a:lnTo>
                    <a:cubicBezTo>
                      <a:pt x="50581" y="419435"/>
                      <a:pt x="0" y="368854"/>
                      <a:pt x="0" y="306460"/>
                    </a:cubicBezTo>
                    <a:lnTo>
                      <a:pt x="0" y="112976"/>
                    </a:lnTo>
                    <a:cubicBezTo>
                      <a:pt x="0" y="50581"/>
                      <a:pt x="50581" y="0"/>
                      <a:pt x="112976" y="0"/>
                    </a:cubicBezTo>
                    <a:close/>
                  </a:path>
                </a:pathLst>
              </a:custGeom>
              <a:solidFill>
                <a:srgbClr val="C9B8E1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920466" cy="4575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40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605806" y="172670"/>
              <a:ext cx="3448249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b="true" sz="1800" spc="-36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At-a-Glance Analytics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17912" y="530810"/>
              <a:ext cx="4024036" cy="1234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545454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Real-time insights into student engagement and course performance metrics.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 flipH="true">
            <a:off x="12039339" y="2546820"/>
            <a:ext cx="2201934" cy="456968"/>
          </a:xfrm>
          <a:prstGeom prst="line">
            <a:avLst/>
          </a:prstGeom>
          <a:ln cap="rnd" w="38100">
            <a:solidFill>
              <a:srgbClr val="FE93D5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9" id="19"/>
          <p:cNvSpPr/>
          <p:nvPr/>
        </p:nvSpPr>
        <p:spPr>
          <a:xfrm flipH="true">
            <a:off x="8582786" y="2575837"/>
            <a:ext cx="5625813" cy="427951"/>
          </a:xfrm>
          <a:prstGeom prst="line">
            <a:avLst/>
          </a:prstGeom>
          <a:ln cap="rnd" w="38100">
            <a:solidFill>
              <a:srgbClr val="FE93D5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20" id="20"/>
          <p:cNvSpPr/>
          <p:nvPr/>
        </p:nvSpPr>
        <p:spPr>
          <a:xfrm flipH="true">
            <a:off x="4879466" y="2622105"/>
            <a:ext cx="9419841" cy="381682"/>
          </a:xfrm>
          <a:prstGeom prst="line">
            <a:avLst/>
          </a:prstGeom>
          <a:ln cap="rnd" w="38100">
            <a:solidFill>
              <a:srgbClr val="FE93D5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21" id="21"/>
          <p:cNvGrpSpPr/>
          <p:nvPr/>
        </p:nvGrpSpPr>
        <p:grpSpPr>
          <a:xfrm rot="0">
            <a:off x="12493825" y="7665757"/>
            <a:ext cx="3494895" cy="1592543"/>
            <a:chOff x="0" y="0"/>
            <a:chExt cx="920466" cy="41943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20466" cy="419435"/>
            </a:xfrm>
            <a:custGeom>
              <a:avLst/>
              <a:gdLst/>
              <a:ahLst/>
              <a:cxnLst/>
              <a:rect r="r" b="b" t="t" l="l"/>
              <a:pathLst>
                <a:path h="419435" w="920466">
                  <a:moveTo>
                    <a:pt x="112976" y="0"/>
                  </a:moveTo>
                  <a:lnTo>
                    <a:pt x="807491" y="0"/>
                  </a:lnTo>
                  <a:cubicBezTo>
                    <a:pt x="869885" y="0"/>
                    <a:pt x="920466" y="50581"/>
                    <a:pt x="920466" y="112976"/>
                  </a:cubicBezTo>
                  <a:lnTo>
                    <a:pt x="920466" y="306460"/>
                  </a:lnTo>
                  <a:cubicBezTo>
                    <a:pt x="920466" y="368854"/>
                    <a:pt x="869885" y="419435"/>
                    <a:pt x="807491" y="419435"/>
                  </a:cubicBezTo>
                  <a:lnTo>
                    <a:pt x="112976" y="419435"/>
                  </a:lnTo>
                  <a:cubicBezTo>
                    <a:pt x="50581" y="419435"/>
                    <a:pt x="0" y="368854"/>
                    <a:pt x="0" y="306460"/>
                  </a:cubicBezTo>
                  <a:lnTo>
                    <a:pt x="0" y="112976"/>
                  </a:lnTo>
                  <a:cubicBezTo>
                    <a:pt x="0" y="50581"/>
                    <a:pt x="50581" y="0"/>
                    <a:pt x="112976" y="0"/>
                  </a:cubicBezTo>
                  <a:close/>
                </a:path>
              </a:pathLst>
            </a:custGeom>
            <a:solidFill>
              <a:srgbClr val="C9B8E1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920466" cy="457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948180" y="7840981"/>
            <a:ext cx="258618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 spc="-36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Quick Action Hub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732259" y="8109586"/>
            <a:ext cx="3018027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One-click access to essential teaching tools, optimizing daily workflow.</a:t>
            </a:r>
          </a:p>
        </p:txBody>
      </p:sp>
      <p:sp>
        <p:nvSpPr>
          <p:cNvPr name="AutoShape 26" id="26"/>
          <p:cNvSpPr/>
          <p:nvPr/>
        </p:nvSpPr>
        <p:spPr>
          <a:xfrm flipH="true" flipV="true">
            <a:off x="14241273" y="5521876"/>
            <a:ext cx="63287" cy="2198076"/>
          </a:xfrm>
          <a:prstGeom prst="line">
            <a:avLst/>
          </a:prstGeom>
          <a:ln cap="rnd" w="38100">
            <a:solidFill>
              <a:srgbClr val="FE93D5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27" id="27"/>
          <p:cNvGrpSpPr/>
          <p:nvPr/>
        </p:nvGrpSpPr>
        <p:grpSpPr>
          <a:xfrm rot="0">
            <a:off x="6477420" y="7665757"/>
            <a:ext cx="3494895" cy="1978115"/>
            <a:chOff x="0" y="0"/>
            <a:chExt cx="920466" cy="52098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20466" cy="520985"/>
            </a:xfrm>
            <a:custGeom>
              <a:avLst/>
              <a:gdLst/>
              <a:ahLst/>
              <a:cxnLst/>
              <a:rect r="r" b="b" t="t" l="l"/>
              <a:pathLst>
                <a:path h="520985" w="920466">
                  <a:moveTo>
                    <a:pt x="112976" y="0"/>
                  </a:moveTo>
                  <a:lnTo>
                    <a:pt x="807491" y="0"/>
                  </a:lnTo>
                  <a:cubicBezTo>
                    <a:pt x="869885" y="0"/>
                    <a:pt x="920466" y="50581"/>
                    <a:pt x="920466" y="112976"/>
                  </a:cubicBezTo>
                  <a:lnTo>
                    <a:pt x="920466" y="408009"/>
                  </a:lnTo>
                  <a:cubicBezTo>
                    <a:pt x="920466" y="470404"/>
                    <a:pt x="869885" y="520985"/>
                    <a:pt x="807491" y="520985"/>
                  </a:cubicBezTo>
                  <a:lnTo>
                    <a:pt x="112976" y="520985"/>
                  </a:lnTo>
                  <a:cubicBezTo>
                    <a:pt x="50581" y="520985"/>
                    <a:pt x="0" y="470404"/>
                    <a:pt x="0" y="408009"/>
                  </a:cubicBezTo>
                  <a:lnTo>
                    <a:pt x="0" y="112976"/>
                  </a:lnTo>
                  <a:cubicBezTo>
                    <a:pt x="0" y="50581"/>
                    <a:pt x="50581" y="0"/>
                    <a:pt x="112976" y="0"/>
                  </a:cubicBezTo>
                  <a:close/>
                </a:path>
              </a:pathLst>
            </a:custGeom>
            <a:solidFill>
              <a:srgbClr val="C9B8E1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920466" cy="559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6931774" y="7840981"/>
            <a:ext cx="2586186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 spc="-36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Progress Tracking &amp; Feedback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715854" y="8423929"/>
            <a:ext cx="3018027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Direct monitoring of student progress with integrated quiz and review systems.</a:t>
            </a:r>
          </a:p>
        </p:txBody>
      </p:sp>
      <p:sp>
        <p:nvSpPr>
          <p:cNvPr name="AutoShape 32" id="32"/>
          <p:cNvSpPr/>
          <p:nvPr/>
        </p:nvSpPr>
        <p:spPr>
          <a:xfrm flipH="true" flipV="true">
            <a:off x="7255655" y="5961213"/>
            <a:ext cx="969213" cy="1642853"/>
          </a:xfrm>
          <a:prstGeom prst="line">
            <a:avLst/>
          </a:prstGeom>
          <a:ln cap="rnd" w="38100">
            <a:solidFill>
              <a:srgbClr val="FE93D5"/>
            </a:solidFill>
            <a:prstDash val="solid"/>
            <a:headEnd type="none" len="sm" w="sm"/>
            <a:tailEnd type="oval" len="lg" w="lg"/>
          </a:ln>
        </p:spPr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10324" y="4436448"/>
            <a:ext cx="6348976" cy="5079181"/>
          </a:xfrm>
          <a:custGeom>
            <a:avLst/>
            <a:gdLst/>
            <a:ahLst/>
            <a:cxnLst/>
            <a:rect r="r" b="b" t="t" l="l"/>
            <a:pathLst>
              <a:path h="5079181" w="6348976">
                <a:moveTo>
                  <a:pt x="0" y="0"/>
                </a:moveTo>
                <a:lnTo>
                  <a:pt x="6348976" y="0"/>
                </a:lnTo>
                <a:lnTo>
                  <a:pt x="6348976" y="5079182"/>
                </a:lnTo>
                <a:lnTo>
                  <a:pt x="0" y="50791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0385" t="-5420" r="-68943" b="-62858"/>
            </a:stretch>
          </a:blipFill>
          <a:ln cap="rnd">
            <a:noFill/>
            <a:prstDash val="solid"/>
            <a:round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4436448"/>
            <a:ext cx="6027314" cy="4821852"/>
          </a:xfrm>
          <a:custGeom>
            <a:avLst/>
            <a:gdLst/>
            <a:ahLst/>
            <a:cxnLst/>
            <a:rect r="r" b="b" t="t" l="l"/>
            <a:pathLst>
              <a:path h="4821852" w="6027314">
                <a:moveTo>
                  <a:pt x="0" y="0"/>
                </a:moveTo>
                <a:lnTo>
                  <a:pt x="6027314" y="0"/>
                </a:lnTo>
                <a:lnTo>
                  <a:pt x="6027314" y="4821852"/>
                </a:lnTo>
                <a:lnTo>
                  <a:pt x="0" y="48218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0219" t="-6227" r="-59248" b="-4808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188032" y="1516413"/>
            <a:ext cx="7911937" cy="2920035"/>
          </a:xfrm>
          <a:custGeom>
            <a:avLst/>
            <a:gdLst/>
            <a:ahLst/>
            <a:cxnLst/>
            <a:rect r="r" b="b" t="t" l="l"/>
            <a:pathLst>
              <a:path h="2920035" w="7911937">
                <a:moveTo>
                  <a:pt x="0" y="0"/>
                </a:moveTo>
                <a:lnTo>
                  <a:pt x="7911936" y="0"/>
                </a:lnTo>
                <a:lnTo>
                  <a:pt x="7911936" y="2920035"/>
                </a:lnTo>
                <a:lnTo>
                  <a:pt x="0" y="29200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506" t="-8850" r="-21331" b="-10885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59672" y="948884"/>
            <a:ext cx="14353730" cy="567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23"/>
              </a:lnSpc>
              <a:spcBef>
                <a:spcPct val="0"/>
              </a:spcBef>
            </a:pPr>
            <a:r>
              <a:rPr lang="en-US" b="true" sz="4223" spc="-21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How to create new quizes</a:t>
            </a:r>
            <a:r>
              <a:rPr lang="en-US" b="true" sz="4223" spc="-21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and questions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85740" y="493362"/>
            <a:ext cx="9301595" cy="379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3"/>
              </a:lnSpc>
            </a:pPr>
            <a:r>
              <a:rPr lang="en-US" b="true" sz="2252" spc="112">
                <a:solidFill>
                  <a:srgbClr val="75598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QUIZ CREATION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56454" y="3915703"/>
            <a:ext cx="9700203" cy="2888503"/>
          </a:xfrm>
          <a:custGeom>
            <a:avLst/>
            <a:gdLst/>
            <a:ahLst/>
            <a:cxnLst/>
            <a:rect r="r" b="b" t="t" l="l"/>
            <a:pathLst>
              <a:path h="2888503" w="9700203">
                <a:moveTo>
                  <a:pt x="0" y="0"/>
                </a:moveTo>
                <a:lnTo>
                  <a:pt x="9700203" y="0"/>
                </a:lnTo>
                <a:lnTo>
                  <a:pt x="9700203" y="2888503"/>
                </a:lnTo>
                <a:lnTo>
                  <a:pt x="0" y="2888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665" t="0" r="-20859" b="-16733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1737" y="2337946"/>
            <a:ext cx="7208005" cy="5766404"/>
          </a:xfrm>
          <a:custGeom>
            <a:avLst/>
            <a:gdLst/>
            <a:ahLst/>
            <a:cxnLst/>
            <a:rect r="r" b="b" t="t" l="l"/>
            <a:pathLst>
              <a:path h="5766404" w="7208005">
                <a:moveTo>
                  <a:pt x="0" y="0"/>
                </a:moveTo>
                <a:lnTo>
                  <a:pt x="7208005" y="0"/>
                </a:lnTo>
                <a:lnTo>
                  <a:pt x="7208005" y="5766405"/>
                </a:lnTo>
                <a:lnTo>
                  <a:pt x="0" y="57664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7473" t="-2785" r="-47117" b="-3403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59672" y="948884"/>
            <a:ext cx="14353730" cy="567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23"/>
              </a:lnSpc>
              <a:spcBef>
                <a:spcPct val="0"/>
              </a:spcBef>
            </a:pPr>
            <a:r>
              <a:rPr lang="en-US" b="true" sz="4223" spc="-21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How to create new courses and add</a:t>
            </a:r>
            <a:r>
              <a:rPr lang="en-US" b="true" sz="4223" spc="-21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  <a:r>
              <a:rPr lang="en-US" b="true" sz="4223" spc="-21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quizes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85740" y="493362"/>
            <a:ext cx="9301595" cy="379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3"/>
              </a:lnSpc>
            </a:pPr>
            <a:r>
              <a:rPr lang="en-US" b="true" sz="2252" spc="112">
                <a:solidFill>
                  <a:srgbClr val="75598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COURSE CREATION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5899" y="827538"/>
            <a:ext cx="11441919" cy="8605276"/>
          </a:xfrm>
          <a:custGeom>
            <a:avLst/>
            <a:gdLst/>
            <a:ahLst/>
            <a:cxnLst/>
            <a:rect r="r" b="b" t="t" l="l"/>
            <a:pathLst>
              <a:path h="8605276" w="11441919">
                <a:moveTo>
                  <a:pt x="0" y="0"/>
                </a:moveTo>
                <a:lnTo>
                  <a:pt x="11441919" y="0"/>
                </a:lnTo>
                <a:lnTo>
                  <a:pt x="11441919" y="8605277"/>
                </a:lnTo>
                <a:lnTo>
                  <a:pt x="0" y="86052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5520" y="1048117"/>
            <a:ext cx="9443424" cy="5314381"/>
            <a:chOff x="0" y="0"/>
            <a:chExt cx="12591232" cy="7085841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23" t="0" r="23" b="0"/>
            <a:stretch>
              <a:fillRect/>
            </a:stretch>
          </p:blipFill>
          <p:spPr>
            <a:xfrm flipH="false" flipV="false">
              <a:off x="0" y="0"/>
              <a:ext cx="12591232" cy="7085841"/>
            </a:xfrm>
            <a:prstGeom prst="rect">
              <a:avLst/>
            </a:prstGeom>
          </p:spPr>
        </p:pic>
      </p:grpSp>
      <p:sp>
        <p:nvSpPr>
          <p:cNvPr name="TextBox 5" id="5"/>
          <p:cNvSpPr txBox="true"/>
          <p:nvPr/>
        </p:nvSpPr>
        <p:spPr>
          <a:xfrm rot="0">
            <a:off x="11128304" y="4324350"/>
            <a:ext cx="5954238" cy="281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b="true" sz="9999" spc="-499">
                <a:solidFill>
                  <a:srgbClr val="004AA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Student</a:t>
            </a:r>
          </a:p>
          <a:p>
            <a:pPr algn="l">
              <a:lnSpc>
                <a:spcPts val="10999"/>
              </a:lnSpc>
            </a:pPr>
            <a:r>
              <a:rPr lang="en-US" b="true" sz="9999" spc="-499">
                <a:solidFill>
                  <a:srgbClr val="004AA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Dashboard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199167" y="4138243"/>
            <a:ext cx="5883375" cy="27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</a:pPr>
            <a:r>
              <a:rPr lang="en-US" b="true" sz="1600" spc="80">
                <a:solidFill>
                  <a:srgbClr val="004AA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ENROLL A COURSE AND START LEARNING!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108191" cy="8229600"/>
            <a:chOff x="0" y="0"/>
            <a:chExt cx="21477588" cy="109728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12" r="0" b="9161"/>
            <a:stretch>
              <a:fillRect/>
            </a:stretch>
          </p:blipFill>
          <p:spPr>
            <a:xfrm flipH="false" flipV="false">
              <a:off x="0" y="0"/>
              <a:ext cx="21477588" cy="10972800"/>
            </a:xfrm>
            <a:prstGeom prst="rect">
              <a:avLst/>
            </a:prstGeom>
          </p:spPr>
        </p:pic>
      </p:grpSp>
      <p:sp>
        <p:nvSpPr>
          <p:cNvPr name="AutoShape 4" id="4"/>
          <p:cNvSpPr/>
          <p:nvPr/>
        </p:nvSpPr>
        <p:spPr>
          <a:xfrm flipV="true">
            <a:off x="1747448" y="3003788"/>
            <a:ext cx="0" cy="4844079"/>
          </a:xfrm>
          <a:prstGeom prst="line">
            <a:avLst/>
          </a:prstGeom>
          <a:ln cap="rnd" w="38100">
            <a:solidFill>
              <a:srgbClr val="0CC0D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5" id="5"/>
          <p:cNvSpPr txBox="true"/>
          <p:nvPr/>
        </p:nvSpPr>
        <p:spPr>
          <a:xfrm rot="0">
            <a:off x="4046727" y="459244"/>
            <a:ext cx="1019454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3000" spc="-15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Des</a:t>
            </a:r>
            <a:r>
              <a:rPr lang="en-US" b="true" sz="3000" spc="-15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igned for clarity, focus, and academic success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7689652"/>
            <a:ext cx="3494895" cy="1788554"/>
            <a:chOff x="0" y="0"/>
            <a:chExt cx="4659861" cy="2384739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4659861" cy="2384739"/>
              <a:chOff x="0" y="0"/>
              <a:chExt cx="920466" cy="47106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920466" cy="471060"/>
              </a:xfrm>
              <a:custGeom>
                <a:avLst/>
                <a:gdLst/>
                <a:ahLst/>
                <a:cxnLst/>
                <a:rect r="r" b="b" t="t" l="l"/>
                <a:pathLst>
                  <a:path h="471060" w="920466">
                    <a:moveTo>
                      <a:pt x="112976" y="0"/>
                    </a:moveTo>
                    <a:lnTo>
                      <a:pt x="807491" y="0"/>
                    </a:lnTo>
                    <a:cubicBezTo>
                      <a:pt x="869885" y="0"/>
                      <a:pt x="920466" y="50581"/>
                      <a:pt x="920466" y="112976"/>
                    </a:cubicBezTo>
                    <a:lnTo>
                      <a:pt x="920466" y="358084"/>
                    </a:lnTo>
                    <a:cubicBezTo>
                      <a:pt x="920466" y="420479"/>
                      <a:pt x="869885" y="471060"/>
                      <a:pt x="807491" y="471060"/>
                    </a:cubicBezTo>
                    <a:lnTo>
                      <a:pt x="112976" y="471060"/>
                    </a:lnTo>
                    <a:cubicBezTo>
                      <a:pt x="50581" y="471060"/>
                      <a:pt x="0" y="420479"/>
                      <a:pt x="0" y="358084"/>
                    </a:cubicBezTo>
                    <a:lnTo>
                      <a:pt x="0" y="112976"/>
                    </a:lnTo>
                    <a:cubicBezTo>
                      <a:pt x="0" y="50581"/>
                      <a:pt x="50581" y="0"/>
                      <a:pt x="112976" y="0"/>
                    </a:cubicBezTo>
                    <a:close/>
                  </a:path>
                </a:pathLst>
              </a:custGeom>
              <a:solidFill>
                <a:srgbClr val="99B1F1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920466" cy="5091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40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605806" y="172854"/>
              <a:ext cx="3448249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b="true" sz="1800" spc="89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P</a:t>
              </a:r>
              <a:r>
                <a:rPr lang="en-US" b="true" sz="1800" spc="89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ERSONALIZED LEARNING PATH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17912" y="950094"/>
              <a:ext cx="4024036" cy="1234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Streamlined navigation for effortless course creation and content management.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840833" y="137935"/>
            <a:ext cx="6606335" cy="27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b="true" sz="1600">
                <a:solidFill>
                  <a:srgbClr val="004AA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STU</a:t>
            </a:r>
            <a:r>
              <a:rPr lang="en-US" b="true" sz="1600">
                <a:solidFill>
                  <a:srgbClr val="004AA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DENT EXPERIENCE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920056" y="1680041"/>
            <a:ext cx="3494895" cy="1803977"/>
            <a:chOff x="0" y="0"/>
            <a:chExt cx="4659861" cy="2405303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4659861" cy="2405303"/>
              <a:chOff x="0" y="0"/>
              <a:chExt cx="920466" cy="47512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920466" cy="475122"/>
              </a:xfrm>
              <a:custGeom>
                <a:avLst/>
                <a:gdLst/>
                <a:ahLst/>
                <a:cxnLst/>
                <a:rect r="r" b="b" t="t" l="l"/>
                <a:pathLst>
                  <a:path h="475122" w="920466">
                    <a:moveTo>
                      <a:pt x="112976" y="0"/>
                    </a:moveTo>
                    <a:lnTo>
                      <a:pt x="807491" y="0"/>
                    </a:lnTo>
                    <a:cubicBezTo>
                      <a:pt x="869885" y="0"/>
                      <a:pt x="920466" y="50581"/>
                      <a:pt x="920466" y="112976"/>
                    </a:cubicBezTo>
                    <a:lnTo>
                      <a:pt x="920466" y="362146"/>
                    </a:lnTo>
                    <a:cubicBezTo>
                      <a:pt x="920466" y="424541"/>
                      <a:pt x="869885" y="475122"/>
                      <a:pt x="807491" y="475122"/>
                    </a:cubicBezTo>
                    <a:lnTo>
                      <a:pt x="112976" y="475122"/>
                    </a:lnTo>
                    <a:cubicBezTo>
                      <a:pt x="50581" y="475122"/>
                      <a:pt x="0" y="424541"/>
                      <a:pt x="0" y="362146"/>
                    </a:cubicBezTo>
                    <a:lnTo>
                      <a:pt x="0" y="112976"/>
                    </a:lnTo>
                    <a:cubicBezTo>
                      <a:pt x="0" y="50581"/>
                      <a:pt x="50581" y="0"/>
                      <a:pt x="112976" y="0"/>
                    </a:cubicBezTo>
                    <a:close/>
                  </a:path>
                </a:pathLst>
              </a:custGeom>
              <a:solidFill>
                <a:srgbClr val="99B1F1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920466" cy="5132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40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605806" y="172854"/>
              <a:ext cx="3448249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b="true" sz="1800" spc="89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P</a:t>
              </a:r>
              <a:r>
                <a:rPr lang="en-US" b="true" sz="1800" spc="89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ROGRESS OVERVIEW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17912" y="950094"/>
              <a:ext cx="4024036" cy="1234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</a:t>
              </a:r>
              <a:r>
                <a:rPr lang="en-US" sz="1800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t-a-glance tracking of enrollment status and overall academic activity.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flipH="true">
            <a:off x="8377457" y="2582030"/>
            <a:ext cx="3542600" cy="421758"/>
          </a:xfrm>
          <a:prstGeom prst="line">
            <a:avLst/>
          </a:prstGeom>
          <a:ln cap="rnd" w="38100">
            <a:solidFill>
              <a:srgbClr val="0CC0D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20" id="20"/>
          <p:cNvSpPr/>
          <p:nvPr/>
        </p:nvSpPr>
        <p:spPr>
          <a:xfrm flipH="true">
            <a:off x="5121401" y="2582030"/>
            <a:ext cx="6798656" cy="290093"/>
          </a:xfrm>
          <a:prstGeom prst="line">
            <a:avLst/>
          </a:prstGeom>
          <a:ln cap="rnd" w="38100">
            <a:solidFill>
              <a:srgbClr val="0CC0DF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21" id="21"/>
          <p:cNvGrpSpPr/>
          <p:nvPr/>
        </p:nvGrpSpPr>
        <p:grpSpPr>
          <a:xfrm rot="0">
            <a:off x="13121212" y="7524778"/>
            <a:ext cx="3494895" cy="2118302"/>
            <a:chOff x="0" y="0"/>
            <a:chExt cx="4659861" cy="2824403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4659861" cy="2824403"/>
              <a:chOff x="0" y="0"/>
              <a:chExt cx="920466" cy="55790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20466" cy="557907"/>
              </a:xfrm>
              <a:custGeom>
                <a:avLst/>
                <a:gdLst/>
                <a:ahLst/>
                <a:cxnLst/>
                <a:rect r="r" b="b" t="t" l="l"/>
                <a:pathLst>
                  <a:path h="557907" w="920466">
                    <a:moveTo>
                      <a:pt x="112976" y="0"/>
                    </a:moveTo>
                    <a:lnTo>
                      <a:pt x="807491" y="0"/>
                    </a:lnTo>
                    <a:cubicBezTo>
                      <a:pt x="869885" y="0"/>
                      <a:pt x="920466" y="50581"/>
                      <a:pt x="920466" y="112976"/>
                    </a:cubicBezTo>
                    <a:lnTo>
                      <a:pt x="920466" y="444931"/>
                    </a:lnTo>
                    <a:cubicBezTo>
                      <a:pt x="920466" y="507326"/>
                      <a:pt x="869885" y="557907"/>
                      <a:pt x="807491" y="557907"/>
                    </a:cubicBezTo>
                    <a:lnTo>
                      <a:pt x="112976" y="557907"/>
                    </a:lnTo>
                    <a:cubicBezTo>
                      <a:pt x="50581" y="557907"/>
                      <a:pt x="0" y="507326"/>
                      <a:pt x="0" y="444931"/>
                    </a:cubicBezTo>
                    <a:lnTo>
                      <a:pt x="0" y="112976"/>
                    </a:lnTo>
                    <a:cubicBezTo>
                      <a:pt x="0" y="50581"/>
                      <a:pt x="50581" y="0"/>
                      <a:pt x="112976" y="0"/>
                    </a:cubicBezTo>
                    <a:close/>
                  </a:path>
                </a:pathLst>
              </a:custGeom>
              <a:solidFill>
                <a:srgbClr val="99B1F1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920466" cy="5960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40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605806" y="172854"/>
              <a:ext cx="3448249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b="true" sz="1800" spc="89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C</a:t>
              </a:r>
              <a:r>
                <a:rPr lang="en-US" b="true" sz="1800" spc="89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OURSE DISCOVERY &amp; ACCESS 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17912" y="950094"/>
              <a:ext cx="4024036" cy="1653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</a:t>
              </a:r>
              <a:r>
                <a:rPr lang="en-US" sz="1800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asy access to diverse course materials with clear categories and direct enrollment options.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 flipV="true">
            <a:off x="14841441" y="7162625"/>
            <a:ext cx="27219" cy="386868"/>
          </a:xfrm>
          <a:prstGeom prst="line">
            <a:avLst/>
          </a:prstGeom>
          <a:ln cap="rnd" w="38100">
            <a:solidFill>
              <a:srgbClr val="0CC0D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28" id="28"/>
          <p:cNvSpPr/>
          <p:nvPr/>
        </p:nvSpPr>
        <p:spPr>
          <a:xfrm flipH="true">
            <a:off x="12323784" y="8522238"/>
            <a:ext cx="797428" cy="61692"/>
          </a:xfrm>
          <a:prstGeom prst="line">
            <a:avLst/>
          </a:prstGeom>
          <a:ln cap="rnd" w="38100">
            <a:solidFill>
              <a:srgbClr val="0CC0DF"/>
            </a:solidFill>
            <a:prstDash val="solid"/>
            <a:headEnd type="none" len="sm" w="sm"/>
            <a:tailEnd type="oval" len="lg" w="lg"/>
          </a:ln>
        </p:spPr>
      </p:sp>
    </p:spTree>
  </p:cSld>
  <p:clrMapOvr>
    <a:masterClrMapping/>
  </p:clrMapOvr>
  <p:transition spd="fast">
    <p:circl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16230600" cy="9060927"/>
          </a:xfrm>
          <a:custGeom>
            <a:avLst/>
            <a:gdLst/>
            <a:ahLst/>
            <a:cxnLst/>
            <a:rect r="r" b="b" t="t" l="l"/>
            <a:pathLst>
              <a:path h="9060927" w="16230600">
                <a:moveTo>
                  <a:pt x="0" y="0"/>
                </a:moveTo>
                <a:lnTo>
                  <a:pt x="16230600" y="0"/>
                </a:lnTo>
                <a:lnTo>
                  <a:pt x="16230600" y="9060927"/>
                </a:lnTo>
                <a:lnTo>
                  <a:pt x="0" y="90609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79" r="0" b="-37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46727" y="459244"/>
            <a:ext cx="1019454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3000" spc="-15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How to</a:t>
            </a:r>
            <a:r>
              <a:rPr lang="en-US" b="true" sz="3000" spc="-15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take quizes and start learning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40833" y="137935"/>
            <a:ext cx="6606335" cy="27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b="true" sz="1600">
                <a:solidFill>
                  <a:srgbClr val="004AA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ENROLLING A COURSE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182903" y="7685692"/>
            <a:ext cx="3494895" cy="2124170"/>
            <a:chOff x="0" y="0"/>
            <a:chExt cx="4659861" cy="2832226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4659861" cy="2832226"/>
              <a:chOff x="0" y="0"/>
              <a:chExt cx="920466" cy="559452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0466" cy="559452"/>
              </a:xfrm>
              <a:custGeom>
                <a:avLst/>
                <a:gdLst/>
                <a:ahLst/>
                <a:cxnLst/>
                <a:rect r="r" b="b" t="t" l="l"/>
                <a:pathLst>
                  <a:path h="559452" w="920466">
                    <a:moveTo>
                      <a:pt x="112976" y="0"/>
                    </a:moveTo>
                    <a:lnTo>
                      <a:pt x="807491" y="0"/>
                    </a:lnTo>
                    <a:cubicBezTo>
                      <a:pt x="869885" y="0"/>
                      <a:pt x="920466" y="50581"/>
                      <a:pt x="920466" y="112976"/>
                    </a:cubicBezTo>
                    <a:lnTo>
                      <a:pt x="920466" y="446477"/>
                    </a:lnTo>
                    <a:cubicBezTo>
                      <a:pt x="920466" y="508871"/>
                      <a:pt x="869885" y="559452"/>
                      <a:pt x="807491" y="559452"/>
                    </a:cubicBezTo>
                    <a:lnTo>
                      <a:pt x="112976" y="559452"/>
                    </a:lnTo>
                    <a:cubicBezTo>
                      <a:pt x="50581" y="559452"/>
                      <a:pt x="0" y="508871"/>
                      <a:pt x="0" y="446477"/>
                    </a:cubicBezTo>
                    <a:lnTo>
                      <a:pt x="0" y="112976"/>
                    </a:lnTo>
                    <a:cubicBezTo>
                      <a:pt x="0" y="50581"/>
                      <a:pt x="50581" y="0"/>
                      <a:pt x="112976" y="0"/>
                    </a:cubicBezTo>
                    <a:close/>
                  </a:path>
                </a:pathLst>
              </a:custGeom>
              <a:solidFill>
                <a:srgbClr val="99B1F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0466" cy="5975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40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605806" y="172854"/>
              <a:ext cx="3448249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b="true" sz="1800" spc="89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TAKE A QUIZ AND START!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317912" y="950094"/>
              <a:ext cx="4024036" cy="1653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Challenge yourself with interactive quizzes to reinforce what you've learned and earn your score!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4930351" y="5101964"/>
            <a:ext cx="0" cy="2583728"/>
          </a:xfrm>
          <a:prstGeom prst="line">
            <a:avLst/>
          </a:prstGeom>
          <a:ln cap="rnd" w="38100">
            <a:solidFill>
              <a:srgbClr val="0CC0DF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551832" y="7685692"/>
            <a:ext cx="3494895" cy="2124170"/>
            <a:chOff x="0" y="0"/>
            <a:chExt cx="4659861" cy="2832226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4659861" cy="2832226"/>
              <a:chOff x="0" y="0"/>
              <a:chExt cx="920466" cy="559452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20466" cy="559452"/>
              </a:xfrm>
              <a:custGeom>
                <a:avLst/>
                <a:gdLst/>
                <a:ahLst/>
                <a:cxnLst/>
                <a:rect r="r" b="b" t="t" l="l"/>
                <a:pathLst>
                  <a:path h="559452" w="920466">
                    <a:moveTo>
                      <a:pt x="112976" y="0"/>
                    </a:moveTo>
                    <a:lnTo>
                      <a:pt x="807491" y="0"/>
                    </a:lnTo>
                    <a:cubicBezTo>
                      <a:pt x="869885" y="0"/>
                      <a:pt x="920466" y="50581"/>
                      <a:pt x="920466" y="112976"/>
                    </a:cubicBezTo>
                    <a:lnTo>
                      <a:pt x="920466" y="446477"/>
                    </a:lnTo>
                    <a:cubicBezTo>
                      <a:pt x="920466" y="508871"/>
                      <a:pt x="869885" y="559452"/>
                      <a:pt x="807491" y="559452"/>
                    </a:cubicBezTo>
                    <a:lnTo>
                      <a:pt x="112976" y="559452"/>
                    </a:lnTo>
                    <a:cubicBezTo>
                      <a:pt x="50581" y="559452"/>
                      <a:pt x="0" y="508871"/>
                      <a:pt x="0" y="446477"/>
                    </a:cubicBezTo>
                    <a:lnTo>
                      <a:pt x="0" y="112976"/>
                    </a:lnTo>
                    <a:cubicBezTo>
                      <a:pt x="0" y="50581"/>
                      <a:pt x="50581" y="0"/>
                      <a:pt x="112976" y="0"/>
                    </a:cubicBezTo>
                    <a:close/>
                  </a:path>
                </a:pathLst>
              </a:custGeom>
              <a:solidFill>
                <a:srgbClr val="99B1F1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920466" cy="5975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40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605806" y="172854"/>
              <a:ext cx="3448249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b="true" sz="1800" spc="89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FEEDBACK &amp; COMMUNITY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17912" y="950094"/>
              <a:ext cx="4024036" cy="1653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Share your thoughts! You can leave a review and help others discover the best courses on the platform.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 flipV="true">
            <a:off x="2299279" y="4597977"/>
            <a:ext cx="1106820" cy="3087715"/>
          </a:xfrm>
          <a:prstGeom prst="line">
            <a:avLst/>
          </a:prstGeom>
          <a:ln cap="rnd" w="38100">
            <a:solidFill>
              <a:srgbClr val="0CC0DF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19" id="19"/>
          <p:cNvGrpSpPr/>
          <p:nvPr/>
        </p:nvGrpSpPr>
        <p:grpSpPr>
          <a:xfrm rot="0">
            <a:off x="6867368" y="7685692"/>
            <a:ext cx="3494895" cy="2124170"/>
            <a:chOff x="0" y="0"/>
            <a:chExt cx="4659861" cy="2832226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4659861" cy="2832226"/>
              <a:chOff x="0" y="0"/>
              <a:chExt cx="920466" cy="55945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920466" cy="559452"/>
              </a:xfrm>
              <a:custGeom>
                <a:avLst/>
                <a:gdLst/>
                <a:ahLst/>
                <a:cxnLst/>
                <a:rect r="r" b="b" t="t" l="l"/>
                <a:pathLst>
                  <a:path h="559452" w="920466">
                    <a:moveTo>
                      <a:pt x="112976" y="0"/>
                    </a:moveTo>
                    <a:lnTo>
                      <a:pt x="807491" y="0"/>
                    </a:lnTo>
                    <a:cubicBezTo>
                      <a:pt x="869885" y="0"/>
                      <a:pt x="920466" y="50581"/>
                      <a:pt x="920466" y="112976"/>
                    </a:cubicBezTo>
                    <a:lnTo>
                      <a:pt x="920466" y="446477"/>
                    </a:lnTo>
                    <a:cubicBezTo>
                      <a:pt x="920466" y="508871"/>
                      <a:pt x="869885" y="559452"/>
                      <a:pt x="807491" y="559452"/>
                    </a:cubicBezTo>
                    <a:lnTo>
                      <a:pt x="112976" y="559452"/>
                    </a:lnTo>
                    <a:cubicBezTo>
                      <a:pt x="50581" y="559452"/>
                      <a:pt x="0" y="508871"/>
                      <a:pt x="0" y="446477"/>
                    </a:cubicBezTo>
                    <a:lnTo>
                      <a:pt x="0" y="112976"/>
                    </a:lnTo>
                    <a:cubicBezTo>
                      <a:pt x="0" y="50581"/>
                      <a:pt x="50581" y="0"/>
                      <a:pt x="112976" y="0"/>
                    </a:cubicBezTo>
                    <a:close/>
                  </a:path>
                </a:pathLst>
              </a:custGeom>
              <a:solidFill>
                <a:srgbClr val="99B1F1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920466" cy="5975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40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605806" y="172854"/>
              <a:ext cx="3448249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b="true" sz="1800" spc="89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TAKE A QUIZ AND START!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317912" y="950094"/>
              <a:ext cx="4024036" cy="1653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Challenge yourself with interactive quizzes to reinforce what you've learned and earn your score!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flipV="true">
            <a:off x="8664711" y="6577074"/>
            <a:ext cx="3177113" cy="1012424"/>
          </a:xfrm>
          <a:prstGeom prst="line">
            <a:avLst/>
          </a:prstGeom>
          <a:ln cap="rnd" w="38100">
            <a:solidFill>
              <a:srgbClr val="0CC0DF"/>
            </a:solidFill>
            <a:prstDash val="solid"/>
            <a:headEnd type="none" len="sm" w="sm"/>
            <a:tailEnd type="oval" len="lg" w="lg"/>
          </a:ln>
        </p:spPr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496691"/>
            <a:ext cx="7355666" cy="7293619"/>
          </a:xfrm>
          <a:custGeom>
            <a:avLst/>
            <a:gdLst/>
            <a:ahLst/>
            <a:cxnLst/>
            <a:rect r="r" b="b" t="t" l="l"/>
            <a:pathLst>
              <a:path h="7293619" w="7355666">
                <a:moveTo>
                  <a:pt x="0" y="0"/>
                </a:moveTo>
                <a:lnTo>
                  <a:pt x="7355666" y="0"/>
                </a:lnTo>
                <a:lnTo>
                  <a:pt x="7355666" y="7293618"/>
                </a:lnTo>
                <a:lnTo>
                  <a:pt x="0" y="72936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149" t="-5709" r="-30192" b="0"/>
            </a:stretch>
          </a:blipFill>
          <a:ln cap="rnd">
            <a:noFill/>
            <a:prstDash val="solid"/>
            <a:round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005087" y="2163996"/>
            <a:ext cx="7254213" cy="5959008"/>
          </a:xfrm>
          <a:custGeom>
            <a:avLst/>
            <a:gdLst/>
            <a:ahLst/>
            <a:cxnLst/>
            <a:rect r="r" b="b" t="t" l="l"/>
            <a:pathLst>
              <a:path h="5959008" w="7254213">
                <a:moveTo>
                  <a:pt x="0" y="0"/>
                </a:moveTo>
                <a:lnTo>
                  <a:pt x="7254213" y="0"/>
                </a:lnTo>
                <a:lnTo>
                  <a:pt x="7254213" y="5959008"/>
                </a:lnTo>
                <a:lnTo>
                  <a:pt x="0" y="59590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4574" t="-8053" r="-45769" b="-42829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4" id="4"/>
          <p:cNvSpPr txBox="true"/>
          <p:nvPr/>
        </p:nvSpPr>
        <p:spPr>
          <a:xfrm rot="0">
            <a:off x="2951703" y="487819"/>
            <a:ext cx="12384595" cy="564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20"/>
              </a:lnSpc>
              <a:spcBef>
                <a:spcPct val="0"/>
              </a:spcBef>
            </a:pPr>
            <a:r>
              <a:rPr lang="en-US" b="true" sz="4220" spc="-21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Validate your skills and prepare for core course materials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40833" y="21094"/>
            <a:ext cx="660633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b="true" sz="2250">
                <a:solidFill>
                  <a:srgbClr val="004AA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ACADEMIC ACHIEVEMENT</a:t>
            </a:r>
          </a:p>
        </p:txBody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36118" y="1457194"/>
            <a:ext cx="9215764" cy="7372611"/>
          </a:xfrm>
          <a:custGeom>
            <a:avLst/>
            <a:gdLst/>
            <a:ahLst/>
            <a:cxnLst/>
            <a:rect r="r" b="b" t="t" l="l"/>
            <a:pathLst>
              <a:path h="7372611" w="9215764">
                <a:moveTo>
                  <a:pt x="0" y="0"/>
                </a:moveTo>
                <a:lnTo>
                  <a:pt x="9215764" y="0"/>
                </a:lnTo>
                <a:lnTo>
                  <a:pt x="9215764" y="7372612"/>
                </a:lnTo>
                <a:lnTo>
                  <a:pt x="0" y="73726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886" t="-5012" r="-54998" b="-42562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3" id="3"/>
          <p:cNvSpPr txBox="true"/>
          <p:nvPr/>
        </p:nvSpPr>
        <p:spPr>
          <a:xfrm rot="0">
            <a:off x="2735782" y="487819"/>
            <a:ext cx="12816435" cy="564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20"/>
              </a:lnSpc>
              <a:spcBef>
                <a:spcPct val="0"/>
              </a:spcBef>
            </a:pPr>
            <a:r>
              <a:rPr lang="en-US" b="true" sz="4220" spc="-21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Voice your opinion and help shape the learning community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40833" y="21094"/>
            <a:ext cx="660633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b="true" sz="2250">
                <a:solidFill>
                  <a:srgbClr val="004AA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SHARE YOUR FEEDBACK</a:t>
            </a:r>
          </a:p>
        </p:txBody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1B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164753"/>
            <a:ext cx="9431863" cy="7093547"/>
          </a:xfrm>
          <a:custGeom>
            <a:avLst/>
            <a:gdLst/>
            <a:ahLst/>
            <a:cxnLst/>
            <a:rect r="r" b="b" t="t" l="l"/>
            <a:pathLst>
              <a:path h="7093547" w="9431863">
                <a:moveTo>
                  <a:pt x="0" y="0"/>
                </a:moveTo>
                <a:lnTo>
                  <a:pt x="9431863" y="0"/>
                </a:lnTo>
                <a:lnTo>
                  <a:pt x="9431863" y="7093547"/>
                </a:lnTo>
                <a:lnTo>
                  <a:pt x="0" y="70935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100953" y="2365041"/>
            <a:ext cx="7748458" cy="4353460"/>
            <a:chOff x="0" y="0"/>
            <a:chExt cx="10331277" cy="5804613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t="44" r="23689" b="23733"/>
            <a:stretch>
              <a:fillRect/>
            </a:stretch>
          </p:blipFill>
          <p:spPr>
            <a:xfrm flipH="false" flipV="false">
              <a:off x="0" y="0"/>
              <a:ext cx="10331277" cy="5804613"/>
            </a:xfrm>
            <a:prstGeom prst="rect">
              <a:avLst/>
            </a:prstGeom>
          </p:spPr>
        </p:pic>
      </p:grpSp>
      <p:sp>
        <p:nvSpPr>
          <p:cNvPr name="TextBox 5" id="5"/>
          <p:cNvSpPr txBox="true"/>
          <p:nvPr/>
        </p:nvSpPr>
        <p:spPr>
          <a:xfrm rot="0">
            <a:off x="11128304" y="4324350"/>
            <a:ext cx="6987571" cy="281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9999" spc="-499" b="true">
                <a:solidFill>
                  <a:srgbClr val="FF914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Data Management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199167" y="4138243"/>
            <a:ext cx="5883375" cy="27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</a:pPr>
            <a:r>
              <a:rPr lang="en-US" b="true" sz="1600" spc="80">
                <a:solidFill>
                  <a:srgbClr val="FF914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WHERE IS ALL THE DATA STORED? </a:t>
            </a:r>
          </a:p>
        </p:txBody>
      </p:sp>
    </p:spTree>
  </p:cSld>
  <p:clrMapOvr>
    <a:masterClrMapping/>
  </p:clrMapOvr>
  <p:transition spd="slow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1B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21640800" cy="109728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3770" r="23505" b="27276"/>
            <a:stretch>
              <a:fillRect/>
            </a:stretch>
          </p:blipFill>
          <p:spPr>
            <a:xfrm flipH="false" flipV="false">
              <a:off x="0" y="0"/>
              <a:ext cx="21640800" cy="10972800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1967135" y="461171"/>
            <a:ext cx="14353730" cy="564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23"/>
              </a:lnSpc>
              <a:spcBef>
                <a:spcPct val="0"/>
              </a:spcBef>
            </a:pPr>
            <a:r>
              <a:rPr lang="en-US" b="true" sz="4223" spc="-21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 scalable f</a:t>
            </a:r>
            <a:r>
              <a:rPr lang="en-US" b="true" sz="4223" spc="-21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oundation for seamless content delivery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93202" y="11422"/>
            <a:ext cx="9301595" cy="373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5"/>
              </a:lnSpc>
            </a:pPr>
            <a:r>
              <a:rPr lang="en-US" b="true" sz="2168" spc="-108">
                <a:solidFill>
                  <a:srgbClr val="FF914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BACKEND MANAGEMENT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19687" y="6787364"/>
            <a:ext cx="3494895" cy="2172649"/>
            <a:chOff x="0" y="0"/>
            <a:chExt cx="920466" cy="5722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0466" cy="572220"/>
            </a:xfrm>
            <a:custGeom>
              <a:avLst/>
              <a:gdLst/>
              <a:ahLst/>
              <a:cxnLst/>
              <a:rect r="r" b="b" t="t" l="l"/>
              <a:pathLst>
                <a:path h="572220" w="920466">
                  <a:moveTo>
                    <a:pt x="112976" y="0"/>
                  </a:moveTo>
                  <a:lnTo>
                    <a:pt x="807491" y="0"/>
                  </a:lnTo>
                  <a:cubicBezTo>
                    <a:pt x="869885" y="0"/>
                    <a:pt x="920466" y="50581"/>
                    <a:pt x="920466" y="112976"/>
                  </a:cubicBezTo>
                  <a:lnTo>
                    <a:pt x="920466" y="459245"/>
                  </a:lnTo>
                  <a:cubicBezTo>
                    <a:pt x="920466" y="521640"/>
                    <a:pt x="869885" y="572220"/>
                    <a:pt x="807491" y="572220"/>
                  </a:cubicBezTo>
                  <a:lnTo>
                    <a:pt x="112976" y="572220"/>
                  </a:lnTo>
                  <a:cubicBezTo>
                    <a:pt x="50581" y="572220"/>
                    <a:pt x="0" y="521640"/>
                    <a:pt x="0" y="459245"/>
                  </a:cubicBezTo>
                  <a:lnTo>
                    <a:pt x="0" y="112976"/>
                  </a:lnTo>
                  <a:cubicBezTo>
                    <a:pt x="0" y="50581"/>
                    <a:pt x="50581" y="0"/>
                    <a:pt x="112976" y="0"/>
                  </a:cubicBezTo>
                  <a:close/>
                </a:path>
              </a:pathLst>
            </a:custGeom>
            <a:solidFill>
              <a:srgbClr val="FFB98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20466" cy="610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74042" y="6962588"/>
            <a:ext cx="2586186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 spc="-36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Relational Database Structure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8122" y="7545536"/>
            <a:ext cx="3018027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Well-defined relational tables ensuring data integrity for courses, quizzes, and user profiles.</a:t>
            </a:r>
          </a:p>
        </p:txBody>
      </p:sp>
      <p:sp>
        <p:nvSpPr>
          <p:cNvPr name="AutoShape 11" id="11"/>
          <p:cNvSpPr/>
          <p:nvPr/>
        </p:nvSpPr>
        <p:spPr>
          <a:xfrm flipH="true" flipV="true">
            <a:off x="971972" y="3135053"/>
            <a:ext cx="995163" cy="3652312"/>
          </a:xfrm>
          <a:prstGeom prst="line">
            <a:avLst/>
          </a:prstGeom>
          <a:ln cap="rnd" w="38100">
            <a:solidFill>
              <a:srgbClr val="FF914D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2" id="12"/>
          <p:cNvSpPr/>
          <p:nvPr/>
        </p:nvSpPr>
        <p:spPr>
          <a:xfrm flipH="true" flipV="true">
            <a:off x="1126201" y="1754661"/>
            <a:ext cx="840934" cy="5032703"/>
          </a:xfrm>
          <a:prstGeom prst="line">
            <a:avLst/>
          </a:prstGeom>
          <a:ln cap="rnd" w="38100">
            <a:solidFill>
              <a:srgbClr val="FF914D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3" id="13"/>
          <p:cNvSpPr/>
          <p:nvPr/>
        </p:nvSpPr>
        <p:spPr>
          <a:xfrm flipH="true" flipV="true">
            <a:off x="1028700" y="2737075"/>
            <a:ext cx="938435" cy="4050290"/>
          </a:xfrm>
          <a:prstGeom prst="line">
            <a:avLst/>
          </a:prstGeom>
          <a:ln cap="rnd" w="38100">
            <a:solidFill>
              <a:srgbClr val="FF914D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14" id="14"/>
          <p:cNvGrpSpPr/>
          <p:nvPr/>
        </p:nvGrpSpPr>
        <p:grpSpPr>
          <a:xfrm rot="0">
            <a:off x="7396552" y="6787364"/>
            <a:ext cx="3494895" cy="2172649"/>
            <a:chOff x="0" y="0"/>
            <a:chExt cx="920466" cy="5722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20466" cy="572220"/>
            </a:xfrm>
            <a:custGeom>
              <a:avLst/>
              <a:gdLst/>
              <a:ahLst/>
              <a:cxnLst/>
              <a:rect r="r" b="b" t="t" l="l"/>
              <a:pathLst>
                <a:path h="572220" w="920466">
                  <a:moveTo>
                    <a:pt x="112976" y="0"/>
                  </a:moveTo>
                  <a:lnTo>
                    <a:pt x="807491" y="0"/>
                  </a:lnTo>
                  <a:cubicBezTo>
                    <a:pt x="869885" y="0"/>
                    <a:pt x="920466" y="50581"/>
                    <a:pt x="920466" y="112976"/>
                  </a:cubicBezTo>
                  <a:lnTo>
                    <a:pt x="920466" y="459245"/>
                  </a:lnTo>
                  <a:cubicBezTo>
                    <a:pt x="920466" y="521640"/>
                    <a:pt x="869885" y="572220"/>
                    <a:pt x="807491" y="572220"/>
                  </a:cubicBezTo>
                  <a:lnTo>
                    <a:pt x="112976" y="572220"/>
                  </a:lnTo>
                  <a:cubicBezTo>
                    <a:pt x="50581" y="572220"/>
                    <a:pt x="0" y="521640"/>
                    <a:pt x="0" y="459245"/>
                  </a:cubicBezTo>
                  <a:lnTo>
                    <a:pt x="0" y="112976"/>
                  </a:lnTo>
                  <a:cubicBezTo>
                    <a:pt x="0" y="50581"/>
                    <a:pt x="50581" y="0"/>
                    <a:pt x="112976" y="0"/>
                  </a:cubicBezTo>
                  <a:close/>
                </a:path>
              </a:pathLst>
            </a:custGeom>
            <a:solidFill>
              <a:srgbClr val="FFB98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20466" cy="610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844410" y="6797790"/>
            <a:ext cx="2586186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 spc="-36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Dynamic Content Management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28489" y="7380738"/>
            <a:ext cx="3018027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Flexible data handling that allows for real-time updates to course descriptions, ratings, and categories.</a:t>
            </a:r>
          </a:p>
        </p:txBody>
      </p:sp>
      <p:sp>
        <p:nvSpPr>
          <p:cNvPr name="AutoShape 19" id="19"/>
          <p:cNvSpPr/>
          <p:nvPr/>
        </p:nvSpPr>
        <p:spPr>
          <a:xfrm flipH="true" flipV="true">
            <a:off x="5222922" y="4809581"/>
            <a:ext cx="3921078" cy="1977783"/>
          </a:xfrm>
          <a:prstGeom prst="line">
            <a:avLst/>
          </a:prstGeom>
          <a:ln cap="rnd" w="38100">
            <a:solidFill>
              <a:srgbClr val="FF914D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20" id="20"/>
          <p:cNvSpPr/>
          <p:nvPr/>
        </p:nvSpPr>
        <p:spPr>
          <a:xfrm flipH="true" flipV="true">
            <a:off x="7390055" y="4809581"/>
            <a:ext cx="1753945" cy="1977783"/>
          </a:xfrm>
          <a:prstGeom prst="line">
            <a:avLst/>
          </a:prstGeom>
          <a:ln cap="rnd" w="38100">
            <a:solidFill>
              <a:srgbClr val="FF914D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21" id="21"/>
          <p:cNvSpPr/>
          <p:nvPr/>
        </p:nvSpPr>
        <p:spPr>
          <a:xfrm flipV="true">
            <a:off x="9144000" y="4809581"/>
            <a:ext cx="2619172" cy="1977783"/>
          </a:xfrm>
          <a:prstGeom prst="line">
            <a:avLst/>
          </a:prstGeom>
          <a:ln cap="rnd" w="38100">
            <a:solidFill>
              <a:srgbClr val="FF914D"/>
            </a:solidFill>
            <a:prstDash val="solid"/>
            <a:headEnd type="none" len="sm" w="sm"/>
            <a:tailEnd type="oval" len="lg" w="lg"/>
          </a:ln>
        </p:spPr>
      </p:sp>
    </p:spTree>
  </p:cSld>
  <p:clrMapOvr>
    <a:masterClrMapping/>
  </p:clrMapOvr>
  <p:transition spd="slow">
    <p:push dir="l"/>
  </p:transition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2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6186311" cy="3479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3479800"/>
            </a:xfrm>
            <a:custGeom>
              <a:avLst/>
              <a:gdLst/>
              <a:ahLst/>
              <a:cxnLst/>
              <a:rect r="r" b="b" t="t" l="l"/>
              <a:pathLst>
                <a:path h="3479800" w="6186311">
                  <a:moveTo>
                    <a:pt x="0" y="0"/>
                  </a:moveTo>
                  <a:lnTo>
                    <a:pt x="0" y="3479800"/>
                  </a:lnTo>
                  <a:lnTo>
                    <a:pt x="6186311" y="3479800"/>
                  </a:lnTo>
                  <a:lnTo>
                    <a:pt x="6186311" y="0"/>
                  </a:lnTo>
                  <a:lnTo>
                    <a:pt x="0" y="0"/>
                  </a:lnTo>
                  <a:close/>
                  <a:moveTo>
                    <a:pt x="6125351" y="3418840"/>
                  </a:moveTo>
                  <a:lnTo>
                    <a:pt x="59690" y="3418840"/>
                  </a:lnTo>
                  <a:lnTo>
                    <a:pt x="59690" y="59690"/>
                  </a:lnTo>
                  <a:lnTo>
                    <a:pt x="6125351" y="59690"/>
                  </a:lnTo>
                  <a:lnTo>
                    <a:pt x="6125351" y="3418840"/>
                  </a:lnTo>
                  <a:close/>
                </a:path>
              </a:pathLst>
            </a:custGeom>
            <a:solidFill>
              <a:srgbClr val="FDFDFD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4516437"/>
            <a:ext cx="9012337" cy="134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50"/>
              </a:lnSpc>
            </a:pPr>
            <a:r>
              <a:rPr lang="en-US" sz="9500" spc="-475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Thank You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869045"/>
            <a:ext cx="3519179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www.learnify.com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818188"/>
            <a:ext cx="3519179" cy="389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-46" b="true">
                <a:solidFill>
                  <a:srgbClr val="FF009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Presented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215698"/>
            <a:ext cx="3519179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Mukhammad Teymurlu</a:t>
            </a: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Aydin Nagiyev</a:t>
            </a: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Toghrul Mammadli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DAHGb2iLkgw</dc:identifier>
  <dcterms:modified xsi:type="dcterms:W3CDTF">2011-08-01T06:04:30Z</dcterms:modified>
  <cp:revision>1</cp:revision>
  <dc:title>2026</dc:title>
</cp:coreProperties>
</file>